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2" r:id="rId6"/>
    <p:sldId id="259" r:id="rId7"/>
    <p:sldId id="263" r:id="rId8"/>
    <p:sldId id="258" r:id="rId9"/>
    <p:sldId id="264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right%20Coffee%20Shop%20Assessment\Bright_Coffee_Shop_Case_Study%20(2)%20-%20qty%20of%20items%20sold%20by%20product%20categor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right%20Coffee%20Shop%20Assessment\Bright_Coffee_Shop_Case_Study%20(1)%20-%20sum%20of%20total%20revenue%20per%20stor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right%20Coffee%20Shop%20Assessment\Bright_Coffee_Shop_Case_Study%20(1)%20-%20sum%20of%20total%20revenue%20per%20stor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right%20Coffee%20Shop%20Assessment\Bright_Coffee_Shop_Case_Study%20(4)%20-%20Analyzes%20sales%20trendz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[Bright_Coffee_Shop_Case_Study (2) - qty of items sold by product category.xlsx]qty sold by pc!PivotTable4</c:name>
    <c:fmtId val="3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'qty sold by pc'!$B$3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'qty sold by pc'!$A$4:$A$13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'qty sold by pc'!$B$4:$B$13</c:f>
              <c:numCache>
                <c:formatCode>General</c:formatCode>
                <c:ptCount val="9"/>
                <c:pt idx="0">
                  <c:v>23214</c:v>
                </c:pt>
                <c:pt idx="1">
                  <c:v>776</c:v>
                </c:pt>
                <c:pt idx="2">
                  <c:v>89250</c:v>
                </c:pt>
                <c:pt idx="3">
                  <c:v>1828</c:v>
                </c:pt>
                <c:pt idx="4">
                  <c:v>17457</c:v>
                </c:pt>
                <c:pt idx="5">
                  <c:v>10511</c:v>
                </c:pt>
                <c:pt idx="6">
                  <c:v>1210</c:v>
                </c:pt>
                <c:pt idx="7">
                  <c:v>487</c:v>
                </c:pt>
                <c:pt idx="8">
                  <c:v>69737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FD-49F0-AF01-4DC2DF8034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94225231"/>
        <c:axId val="1294222831"/>
      </c:barChart>
      <c:catAx>
        <c:axId val="129422523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222831"/>
        <c:crosses val="autoZero"/>
        <c:auto val="1"/>
        <c:lblAlgn val="ctr"/>
        <c:lblOffset val="100"/>
        <c:noMultiLvlLbl val="0"/>
      </c:catAx>
      <c:valAx>
        <c:axId val="1294222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225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[Bright_Coffee_Shop_Case_Study (1) - sum of total revenue per store.xlsx]Sum of total_revenue!PivotTable3</c:name>
    <c:fmtId val="37"/>
  </c:pivotSource>
  <c:chart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'Sum of total_revenue'!$B$3:$B$4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'Sum of total_revenue'!$A$5:$A$8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'Sum of total_revenue'!$B$5:$B$8</c:f>
              <c:numCache>
                <c:formatCode>General</c:formatCode>
                <c:ptCount val="3"/>
                <c:pt idx="0">
                  <c:v>94406.439999998795</c:v>
                </c:pt>
                <c:pt idx="1">
                  <c:v>32894.950000000099</c:v>
                </c:pt>
                <c:pt idx="2">
                  <c:v>104942.519999999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FB-4E16-B462-1A812A7E603A}"/>
            </c:ext>
          </c:extLst>
        </c:ser>
        <c:ser>
          <c:idx val="1"/>
          <c:order val="1"/>
          <c:tx>
            <c:strRef>
              <c:f>'Sum of total_revenue'!$C$3:$C$4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'Sum of total_revenue'!$A$5:$A$8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'Sum of total_revenue'!$C$5:$C$8</c:f>
              <c:numCache>
                <c:formatCode>General</c:formatCode>
                <c:ptCount val="3"/>
                <c:pt idx="0">
                  <c:v>71801.929999999396</c:v>
                </c:pt>
                <c:pt idx="1">
                  <c:v>25265.9399999999</c:v>
                </c:pt>
                <c:pt idx="2">
                  <c:v>139443.300000002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FB-4E16-B462-1A812A7E603A}"/>
            </c:ext>
          </c:extLst>
        </c:ser>
        <c:ser>
          <c:idx val="2"/>
          <c:order val="2"/>
          <c:tx>
            <c:strRef>
              <c:f>'Sum of total_revenue'!$D$3:$D$4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'Sum of total_revenue'!$A$5:$A$8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'Sum of total_revenue'!$D$5:$D$8</c:f>
              <c:numCache>
                <c:formatCode>General</c:formatCode>
                <c:ptCount val="3"/>
                <c:pt idx="0">
                  <c:v>78646.7699999998</c:v>
                </c:pt>
                <c:pt idx="1">
                  <c:v>7507.63</c:v>
                </c:pt>
                <c:pt idx="2">
                  <c:v>143902.85000000201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FB-4E16-B462-1A812A7E6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4264591"/>
        <c:axId val="1294265551"/>
      </c:barChart>
      <c:catAx>
        <c:axId val="12942645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265551"/>
        <c:crosses val="autoZero"/>
        <c:auto val="1"/>
        <c:lblAlgn val="ctr"/>
        <c:lblOffset val="100"/>
        <c:noMultiLvlLbl val="0"/>
      </c:catAx>
      <c:valAx>
        <c:axId val="1294265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264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[Bright_Coffee_Shop_Case_Study (1) - sum of total revenue per store.xlsx]Sum of total_revenue!PivotTable3</c:name>
    <c:fmtId val="34"/>
  </c:pivotSource>
  <c:chart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'Sum of total_revenue'!$B$3:$B$4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'Sum of total_revenue'!$A$5:$A$8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'Sum of total_revenue'!$B$5:$B$8</c:f>
              <c:numCache>
                <c:formatCode>General</c:formatCode>
                <c:ptCount val="3"/>
                <c:pt idx="0">
                  <c:v>94406.439999998795</c:v>
                </c:pt>
                <c:pt idx="1">
                  <c:v>32894.950000000099</c:v>
                </c:pt>
                <c:pt idx="2">
                  <c:v>104942.519999999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A9-4CFA-A384-60B1A5446431}"/>
            </c:ext>
          </c:extLst>
        </c:ser>
        <c:ser>
          <c:idx val="1"/>
          <c:order val="1"/>
          <c:tx>
            <c:strRef>
              <c:f>'Sum of total_revenue'!$C$3:$C$4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'Sum of total_revenue'!$A$5:$A$8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'Sum of total_revenue'!$C$5:$C$8</c:f>
              <c:numCache>
                <c:formatCode>General</c:formatCode>
                <c:ptCount val="3"/>
                <c:pt idx="0">
                  <c:v>71801.929999999396</c:v>
                </c:pt>
                <c:pt idx="1">
                  <c:v>25265.9399999999</c:v>
                </c:pt>
                <c:pt idx="2">
                  <c:v>139443.300000002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A9-4CFA-A384-60B1A5446431}"/>
            </c:ext>
          </c:extLst>
        </c:ser>
        <c:ser>
          <c:idx val="2"/>
          <c:order val="2"/>
          <c:tx>
            <c:strRef>
              <c:f>'Sum of total_revenue'!$D$3:$D$4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'Sum of total_revenue'!$A$5:$A$8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'Sum of total_revenue'!$D$5:$D$8</c:f>
              <c:numCache>
                <c:formatCode>General</c:formatCode>
                <c:ptCount val="3"/>
                <c:pt idx="0">
                  <c:v>78646.7699999998</c:v>
                </c:pt>
                <c:pt idx="1">
                  <c:v>7507.63</c:v>
                </c:pt>
                <c:pt idx="2">
                  <c:v>143902.85000000201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A9-4CFA-A384-60B1A5446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4264591"/>
        <c:axId val="1294265551"/>
      </c:barChart>
      <c:catAx>
        <c:axId val="12942645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265551"/>
        <c:crosses val="autoZero"/>
        <c:auto val="1"/>
        <c:lblAlgn val="ctr"/>
        <c:lblOffset val="100"/>
        <c:noMultiLvlLbl val="0"/>
      </c:catAx>
      <c:valAx>
        <c:axId val="1294265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264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[Bright_Coffee_Shop_Case_Study (4) - Analyzes sales trendz.xlsx]Sheet1!PivotTable6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Sheet1!$B$3:$B$5</c:f>
              <c:strCache>
                <c:ptCount val="1"/>
                <c:pt idx="0">
                  <c:v>Afternoon - Sum of total_revenue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Sheet1!$A$6:$A$9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Sheet1!$B$6:$B$9</c:f>
              <c:numCache>
                <c:formatCode>General</c:formatCode>
                <c:ptCount val="3"/>
                <c:pt idx="0">
                  <c:v>94406.44</c:v>
                </c:pt>
                <c:pt idx="1">
                  <c:v>71801.93000000027</c:v>
                </c:pt>
                <c:pt idx="2">
                  <c:v>78646.770000000281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C-45B3-AD28-8BD1CC43A955}"/>
            </c:ext>
          </c:extLst>
        </c:ser>
        <c:ser>
          <c:idx val="1"/>
          <c:order val="1"/>
          <c:tx>
            <c:strRef>
              <c:f>Sheet1!$C$3:$C$5</c:f>
              <c:strCache>
                <c:ptCount val="1"/>
                <c:pt idx="0">
                  <c:v>Afternoon - Sum of total_quantity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Sheet1!$A$6:$A$9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Sheet1!$C$6:$C$9</c:f>
              <c:numCache>
                <c:formatCode>General</c:formatCode>
                <c:ptCount val="3"/>
                <c:pt idx="0">
                  <c:v>29155</c:v>
                </c:pt>
                <c:pt idx="1">
                  <c:v>22635</c:v>
                </c:pt>
                <c:pt idx="2">
                  <c:v>24750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C-45B3-AD28-8BD1CC43A955}"/>
            </c:ext>
          </c:extLst>
        </c:ser>
        <c:ser>
          <c:idx val="2"/>
          <c:order val="2"/>
          <c:tx>
            <c:strRef>
              <c:f>Sheet1!$D$3:$D$5</c:f>
              <c:strCache>
                <c:ptCount val="1"/>
                <c:pt idx="0">
                  <c:v>Evening - Sum of total_revenue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Sheet1!$A$6:$A$9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Sheet1!$D$6:$D$9</c:f>
              <c:numCache>
                <c:formatCode>General</c:formatCode>
                <c:ptCount val="3"/>
                <c:pt idx="0">
                  <c:v>32894.950000000033</c:v>
                </c:pt>
                <c:pt idx="1">
                  <c:v>25265.939999999911</c:v>
                </c:pt>
                <c:pt idx="2">
                  <c:v>7507.6299999999774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BC-45B3-AD28-8BD1CC43A955}"/>
            </c:ext>
          </c:extLst>
        </c:ser>
        <c:ser>
          <c:idx val="3"/>
          <c:order val="3"/>
          <c:tx>
            <c:strRef>
              <c:f>Sheet1!$E$3:$E$5</c:f>
              <c:strCache>
                <c:ptCount val="1"/>
                <c:pt idx="0">
                  <c:v>Evening - Sum of total_quantity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Sheet1!$A$6:$A$9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Sheet1!$E$6:$E$9</c:f>
              <c:numCache>
                <c:formatCode>General</c:formatCode>
                <c:ptCount val="3"/>
                <c:pt idx="0">
                  <c:v>9880</c:v>
                </c:pt>
                <c:pt idx="1">
                  <c:v>8047</c:v>
                </c:pt>
                <c:pt idx="2">
                  <c:v>2374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BC-45B3-AD28-8BD1CC43A955}"/>
            </c:ext>
          </c:extLst>
        </c:ser>
        <c:ser>
          <c:idx val="4"/>
          <c:order val="4"/>
          <c:tx>
            <c:strRef>
              <c:f>Sheet1!$F$3:$F$5</c:f>
              <c:strCache>
                <c:ptCount val="1"/>
                <c:pt idx="0">
                  <c:v>Morning - Sum of total_revenue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Sheet1!$A$6:$A$9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Sheet1!$F$6:$F$9</c:f>
              <c:numCache>
                <c:formatCode>General</c:formatCode>
                <c:ptCount val="3"/>
                <c:pt idx="0">
                  <c:v>104942.51999999987</c:v>
                </c:pt>
                <c:pt idx="1">
                  <c:v>139443.29999999912</c:v>
                </c:pt>
                <c:pt idx="2">
                  <c:v>143902.84999999905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BC-45B3-AD28-8BD1CC43A955}"/>
            </c:ext>
          </c:extLst>
        </c:ser>
        <c:ser>
          <c:idx val="5"/>
          <c:order val="5"/>
          <c:tx>
            <c:strRef>
              <c:f>Sheet1!$G$3:$G$5</c:f>
              <c:strCache>
                <c:ptCount val="1"/>
                <c:pt idx="0">
                  <c:v>Morning - Sum of total_quantity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Sheet1!$A$6:$A$9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Sheet1!$G$6:$G$9</c:f>
              <c:numCache>
                <c:formatCode>General</c:formatCode>
                <c:ptCount val="3"/>
                <c:pt idx="0">
                  <c:v>31956</c:v>
                </c:pt>
                <c:pt idx="1">
                  <c:v>41055</c:v>
                </c:pt>
                <c:pt idx="2">
                  <c:v>44618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EBC-45B3-AD28-8BD1CC43A9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702063"/>
        <c:axId val="430700623"/>
      </c:barChart>
      <c:catAx>
        <c:axId val="430702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700623"/>
        <c:crosses val="autoZero"/>
        <c:auto val="1"/>
        <c:lblAlgn val="ctr"/>
        <c:lblOffset val="100"/>
        <c:noMultiLvlLbl val="0"/>
      </c:catAx>
      <c:valAx>
        <c:axId val="430700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702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290E50-D3EA-4329-AA5F-AF5A5C575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12D18-5CEB-46F3-924F-E35464AAA3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5D1AD-E24C-4E82-BC85-28527A42DCE7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FC0ED-2712-4B69-9F16-123F02DBF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BD00C-2269-4424-828A-8D893B5226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B3793-D85E-4082-925C-FAA1A2B272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863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5EA34-3951-4B6D-8DDD-B157CE00471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3E965-974B-498D-B360-83DD1F9DEB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36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52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12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86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58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64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AB3A824-1A51-4B26-AD58-A6D8E14F6C04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150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064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764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958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86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1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96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5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80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27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95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CBC1C18-307B-4F68-A007-B5B542270E8D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02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Coffee Beans">
            <a:extLst>
              <a:ext uri="{FF2B5EF4-FFF2-40B4-BE49-F238E27FC236}">
                <a16:creationId xmlns:a16="http://schemas.microsoft.com/office/drawing/2014/main" id="{291BDB91-E757-4677-A38C-EB354240C8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0" rIns="180000">
            <a:normAutofit/>
          </a:bodyPr>
          <a:lstStyle/>
          <a:p>
            <a:r>
              <a:rPr lang="en-US" sz="7200" b="1" dirty="0">
                <a:solidFill>
                  <a:schemeClr val="tx1"/>
                </a:solidFill>
              </a:rPr>
              <a:t>BRIGHT COFFEE</a:t>
            </a:r>
            <a:br>
              <a:rPr lang="en-US" sz="7200" b="1" dirty="0">
                <a:solidFill>
                  <a:schemeClr val="tx1"/>
                </a:solidFill>
              </a:rPr>
            </a:br>
            <a:r>
              <a:rPr lang="en-US" sz="7200" b="1" dirty="0">
                <a:solidFill>
                  <a:schemeClr val="tx1"/>
                </a:solidFill>
              </a:rPr>
              <a:t>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Business Performance </a:t>
            </a:r>
          </a:p>
          <a:p>
            <a:r>
              <a:rPr lang="en-US" sz="2800" dirty="0">
                <a:solidFill>
                  <a:schemeClr val="tx1"/>
                </a:solidFill>
              </a:rPr>
              <a:t>And Insights </a:t>
            </a:r>
          </a:p>
          <a:p>
            <a:r>
              <a:rPr lang="en-US" dirty="0">
                <a:solidFill>
                  <a:schemeClr val="tx1"/>
                </a:solidFill>
              </a:rPr>
              <a:t>Presented by Mojalefa Molatlhegi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F6F939FF-38E5-43C1-9562-6E33A2F50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148A00E-633D-4DE1-A032-9D62FA291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88952" cy="22855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91C57-2090-466E-B05A-DA282135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971088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objective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F7502AC-B5F2-447A-8886-7B0FA9DBA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B55A88-9965-04E7-A641-2B58B5258749}"/>
              </a:ext>
            </a:extLst>
          </p:cNvPr>
          <p:cNvSpPr txBox="1"/>
          <p:nvPr/>
        </p:nvSpPr>
        <p:spPr>
          <a:xfrm>
            <a:off x="727445" y="457199"/>
            <a:ext cx="103134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Which product s generate the most revenue?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What time of day the store performs best?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Sales trends across products and time intervals.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Recommendations for improving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0258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41ADA27-F8D7-4034-AACF-0E2C0E254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olling Dough">
            <a:extLst>
              <a:ext uri="{FF2B5EF4-FFF2-40B4-BE49-F238E27FC236}">
                <a16:creationId xmlns:a16="http://schemas.microsoft.com/office/drawing/2014/main" id="{CD3172FA-7FBF-4586-8BAE-F8681B4CC2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40" y="457205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DFCA76-5DF3-4D71-A543-CF57216D5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Which products generate the most revenue?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C82DC8-E7AF-4E0A-B62F-9B79E706D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EFAA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36361CA-3747-0E9E-AEB0-D940AF4135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3883776"/>
              </p:ext>
            </p:extLst>
          </p:nvPr>
        </p:nvGraphicFramePr>
        <p:xfrm>
          <a:off x="761999" y="2057400"/>
          <a:ext cx="6441234" cy="4072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1673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8BC4-0F3C-34D9-B589-09FA2737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time of day the store performs best?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7F9151D-FB5C-DBE3-1FF4-276C323278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631407"/>
              </p:ext>
            </p:extLst>
          </p:nvPr>
        </p:nvGraphicFramePr>
        <p:xfrm>
          <a:off x="1024128" y="1712166"/>
          <a:ext cx="6197766" cy="417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BDFE26-B389-0ED0-9440-325F2634157B}"/>
              </a:ext>
            </a:extLst>
          </p:cNvPr>
          <p:cNvSpPr txBox="1"/>
          <p:nvPr/>
        </p:nvSpPr>
        <p:spPr>
          <a:xfrm>
            <a:off x="7837714" y="1875453"/>
            <a:ext cx="33301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our data, all 3 stores perform best in the morning but  our Lower Manhattan branch is the one at the top followed by Hell’s Kitchen then Astoria.</a:t>
            </a:r>
          </a:p>
        </p:txBody>
      </p:sp>
    </p:spTree>
    <p:extLst>
      <p:ext uri="{BB962C8B-B14F-4D97-AF65-F5344CB8AC3E}">
        <p14:creationId xmlns:p14="http://schemas.microsoft.com/office/powerpoint/2010/main" val="367491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8756837-05BF-4387-B0CB-CFF921BCD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FEC9DA-F598-4E27-80EE-1EF9DDE39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763" y="643467"/>
            <a:ext cx="4347424" cy="557106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Sales trends across products and time intervals</a:t>
            </a:r>
            <a:br>
              <a:rPr lang="en-US" dirty="0"/>
            </a:b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7F9151D-FB5C-DBE3-1FF4-276C32327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057906"/>
              </p:ext>
            </p:extLst>
          </p:nvPr>
        </p:nvGraphicFramePr>
        <p:xfrm>
          <a:off x="174813" y="270589"/>
          <a:ext cx="7149718" cy="2985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A7A57EA-D3C8-F8F3-D3B2-BC8D7C1EFC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9915912"/>
              </p:ext>
            </p:extLst>
          </p:nvPr>
        </p:nvGraphicFramePr>
        <p:xfrm>
          <a:off x="174812" y="3471333"/>
          <a:ext cx="5921187" cy="2985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5720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DEEC-D721-3CB4-A1AC-6B7132B9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361281"/>
            <a:ext cx="10769766" cy="1499616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Recommendations for improving sales performance.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C3FF3-86C8-2076-7FF6-9229E85E0008}"/>
              </a:ext>
            </a:extLst>
          </p:cNvPr>
          <p:cNvSpPr txBox="1"/>
          <p:nvPr/>
        </p:nvSpPr>
        <p:spPr>
          <a:xfrm>
            <a:off x="1024128" y="1860897"/>
            <a:ext cx="951013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Sales Performance Improvement </a:t>
            </a:r>
          </a:p>
          <a:p>
            <a:endParaRPr lang="en-US" sz="2400" b="1" u="sng" dirty="0">
              <a:latin typeface="+mj-lt"/>
            </a:endParaRPr>
          </a:p>
          <a:p>
            <a:endParaRPr lang="en-US" sz="2400" b="1" u="sng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Optimize peak hours</a:t>
            </a:r>
            <a:r>
              <a:rPr lang="en-US" sz="2000" b="1" dirty="0"/>
              <a:t>:</a:t>
            </a:r>
            <a:r>
              <a:rPr lang="en-US" sz="2000" dirty="0"/>
              <a:t> Increase staffing and efficiency during busy times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Promote top products</a:t>
            </a:r>
            <a:r>
              <a:rPr lang="en-US" sz="2000" b="1" dirty="0"/>
              <a:t>:</a:t>
            </a:r>
            <a:r>
              <a:rPr lang="en-US" sz="2000" dirty="0"/>
              <a:t> Focus on best-sellers and use bundles to boost revenue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Improve slow periods</a:t>
            </a:r>
            <a:r>
              <a:rPr lang="en-US" sz="2000" b="1" dirty="0"/>
              <a:t>:</a:t>
            </a:r>
            <a:r>
              <a:rPr lang="en-US" sz="2000" dirty="0"/>
              <a:t> Run discounts and promotions during low-demand times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Support weak stores</a:t>
            </a:r>
            <a:r>
              <a:rPr lang="en-US" sz="2000" b="1" dirty="0"/>
              <a:t>:</a:t>
            </a:r>
            <a:r>
              <a:rPr lang="en-US" sz="2000" dirty="0"/>
              <a:t> Apply targeted strategies to underperforming locations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Align inventory</a:t>
            </a:r>
            <a:r>
              <a:rPr lang="en-US" sz="2000" b="1" dirty="0"/>
              <a:t>:</a:t>
            </a:r>
            <a:r>
              <a:rPr lang="en-US" sz="2000" dirty="0"/>
              <a:t> Stock high-demand items and reduce low-performing ones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Use data continuously</a:t>
            </a:r>
            <a:r>
              <a:rPr lang="en-US" sz="2000" b="1" dirty="0"/>
              <a:t>:</a:t>
            </a:r>
            <a:r>
              <a:rPr lang="en-US" sz="2000" dirty="0"/>
              <a:t> Monitor trends to make informed decisions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Upsell &amp; cross-sell</a:t>
            </a:r>
            <a:r>
              <a:rPr lang="en-US" sz="2000" b="1" dirty="0"/>
              <a:t>:</a:t>
            </a:r>
            <a:r>
              <a:rPr lang="en-US" sz="2000" dirty="0"/>
              <a:t> Encourage add-ons to increase transaction value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Localize strategies</a:t>
            </a:r>
            <a:r>
              <a:rPr lang="en-US" sz="2000" b="1" dirty="0"/>
              <a:t>:</a:t>
            </a:r>
            <a:r>
              <a:rPr lang="en-US" sz="2000" dirty="0"/>
              <a:t> Tailor offerings based on each store’s performance</a:t>
            </a:r>
          </a:p>
        </p:txBody>
      </p:sp>
    </p:spTree>
    <p:extLst>
      <p:ext uri="{BB962C8B-B14F-4D97-AF65-F5344CB8AC3E}">
        <p14:creationId xmlns:p14="http://schemas.microsoft.com/office/powerpoint/2010/main" val="142569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063F05-99EF-4DA3-B595-4E26670F2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04461-E85A-43E7-AA0B-B7DF596C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  <a:prstGeom prst="rect">
            <a:avLst/>
          </a:prstGeom>
        </p:spPr>
        <p:txBody>
          <a:bodyPr lIns="0" tIns="108000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A835C2-2B9B-4174-AA2C-60A4F1311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D39F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DDBE1-00CD-4A90-9BA9-5E79F6C6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258" y="2286000"/>
            <a:ext cx="3791711" cy="393192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Email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/>
              <a:t>mmolatlhegi73@gmail.com</a:t>
            </a:r>
            <a:endParaRPr lang="en-US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Restaurant Open Sign">
            <a:extLst>
              <a:ext uri="{FF2B5EF4-FFF2-40B4-BE49-F238E27FC236}">
                <a16:creationId xmlns:a16="http://schemas.microsoft.com/office/drawing/2014/main" id="{4BB88093-7048-42AA-9AFC-B007B4E797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8548" y="10"/>
            <a:ext cx="6723452" cy="6857990"/>
          </a:xfrm>
          <a:prstGeom prst="rect">
            <a:avLst/>
          </a:prstGeom>
        </p:spPr>
      </p:pic>
      <p:pic>
        <p:nvPicPr>
          <p:cNvPr id="7" name="Graphic 6" descr="Envelope">
            <a:extLst>
              <a:ext uri="{FF2B5EF4-FFF2-40B4-BE49-F238E27FC236}">
                <a16:creationId xmlns:a16="http://schemas.microsoft.com/office/drawing/2014/main" id="{1BCFD98B-5534-433A-A8E6-4DE2A04C39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4129" y="22860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44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A7C301-87CC-4EB1-AF40-15075522FC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A402E5-52EF-430B-8CCB-B4AAA8C46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231547-F69E-41A9-93A9-B70B5E3064F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Retail design</Template>
  <TotalTime>64</TotalTime>
  <Words>210</Words>
  <Application>Microsoft Office PowerPoint</Application>
  <PresentationFormat>Widescreen</PresentationFormat>
  <Paragraphs>36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Tw Cen MT</vt:lpstr>
      <vt:lpstr>Tw Cen MT Condensed</vt:lpstr>
      <vt:lpstr>Wingdings</vt:lpstr>
      <vt:lpstr>Wingdings 3</vt:lpstr>
      <vt:lpstr>Integral</vt:lpstr>
      <vt:lpstr>BRIGHT COFFEE SHOP</vt:lpstr>
      <vt:lpstr>objective</vt:lpstr>
      <vt:lpstr>Which products generate the most revenue?</vt:lpstr>
      <vt:lpstr>What time of day the store performs best? </vt:lpstr>
      <vt:lpstr>Sales trends across products and time intervals </vt:lpstr>
      <vt:lpstr>Recommendations for improving sales performance.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Mojalefa Molatlhegi</dc:creator>
  <cp:lastModifiedBy>Mojalefa Molatlhegi</cp:lastModifiedBy>
  <cp:revision>2</cp:revision>
  <dcterms:created xsi:type="dcterms:W3CDTF">2026-03-23T02:14:16Z</dcterms:created>
  <dcterms:modified xsi:type="dcterms:W3CDTF">2026-03-23T03:18:31Z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